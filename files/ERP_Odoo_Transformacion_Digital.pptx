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63" r:id="rId2"/>
  </p:sldMasterIdLst>
  <p:notesMasterIdLst>
    <p:notesMasterId r:id="rId13"/>
  </p:notesMasterIdLst>
  <p:sldIdLst>
    <p:sldId id="26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2110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2485" y="661782"/>
            <a:ext cx="7475220" cy="219456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b="1" cap="all" baseline="0">
                <a:solidFill>
                  <a:srgbClr val="FFFFFF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2148" y="2902226"/>
            <a:ext cx="6575895" cy="1041124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rgbClr val="FFFFFF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483995" y="2800350"/>
            <a:ext cx="61722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912768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54399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818" y="880181"/>
            <a:ext cx="7475220" cy="219456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5400" b="0"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2446" y="3115890"/>
            <a:ext cx="6576822" cy="1022855"/>
          </a:xfrm>
        </p:spPr>
        <p:txBody>
          <a:bodyPr anchor="t">
            <a:normAutofit/>
          </a:bodyPr>
          <a:lstStyle>
            <a:lvl1pPr marL="0" indent="0" algn="ctr">
              <a:buNone/>
              <a:defRPr sz="1650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485900" y="3015306"/>
            <a:ext cx="61722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436101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7250" y="1543049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709" y="1543050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0072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0" y="1501133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50" y="204111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1880" y="1499274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1880" y="203949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566796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73716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394544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9119" y="822960"/>
            <a:ext cx="3909060" cy="349758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2631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97808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9936" y="802385"/>
            <a:ext cx="4574286" cy="360045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16027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75768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6172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71500"/>
            <a:ext cx="1743075" cy="4057650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7250" y="571500"/>
            <a:ext cx="5572125" cy="4057650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49878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30350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66B08B-37C3-D146-4337-4C52767484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0CE4B5A-7350-B1A7-47BA-C2ACB30F1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MX"/>
              <a:t>Haz clic para editar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BC2F68-8F17-9B80-0B25-BE62F0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1114BB-4972-992D-FF0B-311CF9900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254ED3-740A-BA32-4ACD-755C1E593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3240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C01BAC-2B28-C9B8-4541-8341D231D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1E76DD-EE6A-33B1-127D-F226724BB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F291EE-A190-F763-F902-F8FD91B8D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273777-7372-3437-D74C-F29B9B28F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CC169F-C281-D912-3CD4-C73A0111D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439231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498B25-549B-908A-FE07-1D3ECA2FB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3E7466E-C05B-8698-06CF-81EB9CF5C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674AB0-C46C-4F1E-479C-D10411E9A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C294FF-3290-876A-2AF6-A33C8ADAB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D1B08F3-C5A8-0096-F840-545798FC3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81043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91CAEC-AFF3-A948-9149-FAF14F4A0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7122698-462A-C8F4-7A5F-63D45ACA61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42FFBCC-B6FC-DB10-7DEF-5311E7E208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FFA31A-DCE6-C110-541D-2432CDB37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DBC28E-1DE0-EC77-F1CC-8113EBFAA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C287C3-E6C7-0AEB-7F5F-AB61BF38F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801241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82F56-A4F3-8EE2-C707-C47720F3C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7023480-E447-0508-9A53-3293F229D9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317785B-617E-A2B5-8BD3-D6B90B439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4FAD0B0-7D4D-DC1F-A313-FF925CE420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8B553B1-6AED-E375-0131-B665E39C3F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DC277A1-8819-5538-7EF7-BD47E24D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B3C9E23-95E1-5CDD-0423-55C59FB33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C823FC-5CEC-8179-3E72-CB191B93C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52725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61543-8A23-A119-697D-305ED26C4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6955CD5-8498-DC1C-CF88-53A91EDB1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92A5E34-7A47-2104-B9AF-8AF8199D0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8123C7B-4F04-2367-67E5-CF453CC1B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705128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CEF7E4C-CAE0-C385-87EF-75B39D0C4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CBC72E-5288-DB81-C9AD-851361CA5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35DDFB1-99DF-FB78-5779-1F205DD88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42958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DCB9DF-6AB3-416D-49C2-4739A58A4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A87052-C7A1-73EC-D6C3-84E7DA5CD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B5594A7-550A-6F09-0902-8A3663A821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C80712-3B35-C80A-AAA1-1967C2A02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1B0684A-FB5B-CC7A-7A6D-0042E38CF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3546CEC-6C5D-61CE-6A51-DF6B09939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75248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3C3946-5C0D-72E1-E5A0-D4635731D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8CCDF99-531E-AD68-7EA8-A39F587D7B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98D1D45-0078-B6F7-495E-AE18140CEE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D0972F7-A743-D964-1910-5FFF761AB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20B760C-A185-5969-37B7-8F95E6609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0EA9A37-47BF-5ADE-B539-FA9824CDB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43843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6AB50C-1CB4-3D4B-C847-06A2FA0EB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633F866-7241-6ECE-B428-9FE13A31E1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E174F79-D955-01EE-8A50-761E4E6FA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5F41ED-A506-E5AB-23C5-AE9936DBB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F710AF2-F8C5-3554-3B47-7497360FE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38277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631C3B1-B192-78C2-D7BF-47D9CB7C45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AC3D80-05D0-A583-0C9F-6872A37672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534B264-EA7D-CBDA-8E4F-5CA5FFE8A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538863-D679-CAD7-AA63-F4490F1A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21B059-0623-D94D-17C6-6008EB157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199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7250" y="457200"/>
            <a:ext cx="7406640" cy="10172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1" y="1543050"/>
            <a:ext cx="7404653" cy="3028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7247" y="4667871"/>
            <a:ext cx="174680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accent1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1861" y="4667871"/>
            <a:ext cx="35383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7148" y="4667871"/>
            <a:ext cx="127966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440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37160" algn="l" defTabSz="685800" rtl="0" eaLnBrk="1" latinLnBrk="0" hangingPunct="1">
        <a:lnSpc>
          <a:spcPct val="90000"/>
        </a:lnSpc>
        <a:spcBef>
          <a:spcPts val="1050"/>
        </a:spcBef>
        <a:buClr>
          <a:schemeClr val="accent1"/>
        </a:buClr>
        <a:buSzPct val="80000"/>
        <a:buFont typeface="Corbel" pitchFamily="34" charset="0"/>
        <a:buChar char="•"/>
        <a:defRPr sz="165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5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35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0E264C-A05D-6184-22C1-4CB2A1EA8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E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DFA1D68-C85F-B395-0CF7-6829D71C5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9D2132B-30C7-B8F6-A6FF-0A342B72E5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FE1289-BAFA-43DA-B42C-C12803F373E2}" type="datetimeFigureOut">
              <a:rPr lang="es-ES" smtClean="0"/>
              <a:t>28/11/2025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0DBFAF-8DE2-FE15-045D-E42C080FC2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410178-6FA8-E88E-6B4F-9707128DDA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13143-1BF4-41B9-87A1-D32D62CD22A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04632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B161EEF-A039-B1F8-7EDB-CB2D7D8FB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01" y="1329613"/>
            <a:ext cx="3489511" cy="190154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br>
              <a:rPr lang="es-ES" sz="33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s-ES" sz="3600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Marcador de posición de imagen 9">
            <a:extLst>
              <a:ext uri="{FF2B5EF4-FFF2-40B4-BE49-F238E27FC236}">
                <a16:creationId xmlns:a16="http://schemas.microsoft.com/office/drawing/2014/main" id="{82B66E65-6C4F-E687-3F00-3E5A32486D0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38" r="15238"/>
          <a:stretch>
            <a:fillRect/>
          </a:stretch>
        </p:blipFill>
        <p:spPr>
          <a:xfrm>
            <a:off x="4075650" y="855830"/>
            <a:ext cx="4629150" cy="3655219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1F7E9475-F4CB-276D-233D-415CBD84B9F8}"/>
              </a:ext>
            </a:extLst>
          </p:cNvPr>
          <p:cNvSpPr/>
          <p:nvPr/>
        </p:nvSpPr>
        <p:spPr>
          <a:xfrm>
            <a:off x="4856584" y="1168660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8C965B2D-A0A1-C1F8-C9FE-6B49BC1AB551}"/>
              </a:ext>
            </a:extLst>
          </p:cNvPr>
          <p:cNvSpPr/>
          <p:nvPr/>
        </p:nvSpPr>
        <p:spPr>
          <a:xfrm>
            <a:off x="6505691" y="1168660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F0588552-F17E-E369-E12E-64C03E5727C8}"/>
              </a:ext>
            </a:extLst>
          </p:cNvPr>
          <p:cNvSpPr/>
          <p:nvPr/>
        </p:nvSpPr>
        <p:spPr>
          <a:xfrm>
            <a:off x="7330245" y="1168660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15C7A0F-1781-1354-C318-2520634BAA18}"/>
              </a:ext>
            </a:extLst>
          </p:cNvPr>
          <p:cNvSpPr/>
          <p:nvPr/>
        </p:nvSpPr>
        <p:spPr>
          <a:xfrm>
            <a:off x="8125591" y="1168660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48800734-5A82-D646-F198-025DB4DE464A}"/>
              </a:ext>
            </a:extLst>
          </p:cNvPr>
          <p:cNvSpPr/>
          <p:nvPr/>
        </p:nvSpPr>
        <p:spPr>
          <a:xfrm>
            <a:off x="8125590" y="1998092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FD45630B-77BD-D631-1173-B9741FD11082}"/>
              </a:ext>
            </a:extLst>
          </p:cNvPr>
          <p:cNvSpPr/>
          <p:nvPr/>
        </p:nvSpPr>
        <p:spPr>
          <a:xfrm>
            <a:off x="4075651" y="2839854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A330026D-6493-3515-D38B-901215A5559D}"/>
              </a:ext>
            </a:extLst>
          </p:cNvPr>
          <p:cNvSpPr/>
          <p:nvPr/>
        </p:nvSpPr>
        <p:spPr>
          <a:xfrm>
            <a:off x="8125590" y="3651205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B85E595A-E35D-5FA4-7361-F5787C8428A0}"/>
              </a:ext>
            </a:extLst>
          </p:cNvPr>
          <p:cNvSpPr/>
          <p:nvPr/>
        </p:nvSpPr>
        <p:spPr>
          <a:xfrm>
            <a:off x="4856584" y="2839854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C4DD6C06-671F-9F6D-0493-DAAA233B2939}"/>
              </a:ext>
            </a:extLst>
          </p:cNvPr>
          <p:cNvSpPr/>
          <p:nvPr/>
        </p:nvSpPr>
        <p:spPr>
          <a:xfrm>
            <a:off x="4075651" y="1998091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6B26B629-1BFB-8206-62B7-1C8A48002CFD}"/>
              </a:ext>
            </a:extLst>
          </p:cNvPr>
          <p:cNvSpPr/>
          <p:nvPr/>
        </p:nvSpPr>
        <p:spPr>
          <a:xfrm>
            <a:off x="5666520" y="3651205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A2AB0FA5-87C1-A6BC-CA91-69700EE26C53}"/>
              </a:ext>
            </a:extLst>
          </p:cNvPr>
          <p:cNvSpPr/>
          <p:nvPr/>
        </p:nvSpPr>
        <p:spPr>
          <a:xfrm>
            <a:off x="5666520" y="1998091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779B388A-006B-CD21-BDFD-F1370CE88DF2}"/>
              </a:ext>
            </a:extLst>
          </p:cNvPr>
          <p:cNvSpPr/>
          <p:nvPr/>
        </p:nvSpPr>
        <p:spPr>
          <a:xfrm>
            <a:off x="6505691" y="2013334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E41BFF4B-2A5B-ECF1-74C0-33A052B67DD0}"/>
              </a:ext>
            </a:extLst>
          </p:cNvPr>
          <p:cNvSpPr/>
          <p:nvPr/>
        </p:nvSpPr>
        <p:spPr>
          <a:xfrm>
            <a:off x="5724757" y="1168660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Título 3">
            <a:extLst>
              <a:ext uri="{FF2B5EF4-FFF2-40B4-BE49-F238E27FC236}">
                <a16:creationId xmlns:a16="http://schemas.microsoft.com/office/drawing/2014/main" id="{D0A05FC1-F839-E76E-FA08-62B998DA5C31}"/>
              </a:ext>
            </a:extLst>
          </p:cNvPr>
          <p:cNvSpPr txBox="1">
            <a:spLocks/>
          </p:cNvSpPr>
          <p:nvPr/>
        </p:nvSpPr>
        <p:spPr>
          <a:xfrm>
            <a:off x="6303967" y="30677"/>
            <a:ext cx="2400833" cy="480667"/>
          </a:xfrm>
          <a:prstGeom prst="rect">
            <a:avLst/>
          </a:prstGeom>
        </p:spPr>
        <p:txBody>
          <a:bodyPr vert="horz" lIns="68580" tIns="34290" rIns="68580" bIns="3429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00"/>
            <a:r>
              <a:rPr lang="es-ES" sz="1800" i="1" dirty="0">
                <a:solidFill>
                  <a:srgbClr val="E7E6E6">
                    <a:lumMod val="5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InfoTech Solutions</a:t>
            </a:r>
            <a:endParaRPr lang="es-ES" sz="1800" i="1" dirty="0">
              <a:solidFill>
                <a:srgbClr val="E7E6E6">
                  <a:lumMod val="5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63A32C9-B16D-09FB-6810-8158F461E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544"/>
          <a:stretch>
            <a:fillRect/>
          </a:stretch>
        </p:blipFill>
        <p:spPr>
          <a:xfrm>
            <a:off x="8291073" y="111097"/>
            <a:ext cx="413728" cy="400248"/>
          </a:xfrm>
          <a:prstGeom prst="rect">
            <a:avLst/>
          </a:prstGeom>
        </p:spPr>
      </p:pic>
      <p:sp>
        <p:nvSpPr>
          <p:cNvPr id="30" name="CuadroTexto 29">
            <a:extLst>
              <a:ext uri="{FF2B5EF4-FFF2-40B4-BE49-F238E27FC236}">
                <a16:creationId xmlns:a16="http://schemas.microsoft.com/office/drawing/2014/main" id="{127754DE-484C-CE96-C02E-6136F7DB8BC4}"/>
              </a:ext>
            </a:extLst>
          </p:cNvPr>
          <p:cNvSpPr txBox="1"/>
          <p:nvPr/>
        </p:nvSpPr>
        <p:spPr>
          <a:xfrm>
            <a:off x="498734" y="4660641"/>
            <a:ext cx="337813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s-ES" sz="15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Consultor Técnico:</a:t>
            </a:r>
            <a:r>
              <a:rPr lang="es-ES" sz="15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Anibal Solano F.</a:t>
            </a: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C7FFCB04-B5D4-6B74-1BBC-51BFE6E60124}"/>
              </a:ext>
            </a:extLst>
          </p:cNvPr>
          <p:cNvSpPr txBox="1">
            <a:spLocks/>
          </p:cNvSpPr>
          <p:nvPr/>
        </p:nvSpPr>
        <p:spPr>
          <a:xfrm>
            <a:off x="565083" y="932259"/>
            <a:ext cx="3452328" cy="1200150"/>
          </a:xfrm>
          <a:prstGeom prst="rect">
            <a:avLst/>
          </a:prstGeom>
          <a:effectLst>
            <a:glow rad="63500">
              <a:schemeClr val="tx1">
                <a:alpha val="40000"/>
              </a:schemeClr>
            </a:glow>
          </a:effectLst>
        </p:spPr>
        <p:txBody>
          <a:bodyPr vert="horz" lIns="68580" tIns="34290" rIns="68580" bIns="3429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685800"/>
            <a:r>
              <a:rPr lang="es" sz="5400" b="1" spc="-38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s" sz="5400" b="1" spc="-38" dirty="0">
                <a:solidFill>
                  <a:srgbClr val="E7E6E6">
                    <a:lumMod val="5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doo</a:t>
            </a:r>
            <a:br>
              <a:rPr lang="es" sz="3000" b="1" spc="-38" dirty="0">
                <a:solidFill>
                  <a:srgbClr val="E7E6E6">
                    <a:lumMod val="7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s-ES" sz="2400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 Light" panose="020F0302020204030204"/>
            </a:endParaRPr>
          </a:p>
        </p:txBody>
      </p:sp>
      <p:sp>
        <p:nvSpPr>
          <p:cNvPr id="34" name="Marcador de texto 3">
            <a:extLst>
              <a:ext uri="{FF2B5EF4-FFF2-40B4-BE49-F238E27FC236}">
                <a16:creationId xmlns:a16="http://schemas.microsoft.com/office/drawing/2014/main" id="{C8152945-7EE6-46A8-B1C8-1AD8E91D7A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2581" y="1748577"/>
            <a:ext cx="3594831" cy="1429487"/>
          </a:xfrm>
        </p:spPr>
        <p:txBody>
          <a:bodyPr>
            <a:normAutofit/>
          </a:bodyPr>
          <a:lstStyle/>
          <a:p>
            <a:pPr algn="ctr"/>
            <a:endParaRPr lang="en-US" sz="15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  <a:p>
            <a:pPr algn="ctr"/>
            <a:endParaRPr lang="en-US" sz="15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ea typeface="Arial" pitchFamily="34" charset="-122"/>
              <a:cs typeface="Arial" panose="020B0604020202020204" pitchFamily="34" charset="0"/>
            </a:endParaRPr>
          </a:p>
          <a:p>
            <a:pPr algn="ctr"/>
            <a:r>
              <a:rPr lang="en-US" sz="1500" b="1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Proyecto de Modernización Digital</a:t>
            </a:r>
            <a:endParaRPr lang="en-US" sz="1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100" b="1" dirty="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InfoTech Solutions</a:t>
            </a:r>
            <a:endParaRPr lang="en-US" sz="2100" b="1" dirty="0">
              <a:solidFill>
                <a:schemeClr val="bg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DEC74199-3178-1AEF-9BDF-FFF2DAEDA873}"/>
              </a:ext>
            </a:extLst>
          </p:cNvPr>
          <p:cNvSpPr/>
          <p:nvPr/>
        </p:nvSpPr>
        <p:spPr>
          <a:xfrm>
            <a:off x="5839057" y="1282960"/>
            <a:ext cx="550001" cy="510851"/>
          </a:xfrm>
          <a:prstGeom prst="roundRect">
            <a:avLst/>
          </a:prstGeom>
          <a:solidFill>
            <a:schemeClr val="bg2">
              <a:alpha val="7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s-ES" sz="1350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3264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075" y="228600"/>
            <a:ext cx="0" cy="304800"/>
          </a:xfrm>
          <a:prstGeom prst="line">
            <a:avLst/>
          </a:prstGeom>
          <a:noFill/>
          <a:ln w="5715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00050" y="228600"/>
            <a:ext cx="43719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50900" y="701723"/>
            <a:ext cx="3060700" cy="1187649"/>
          </a:xfrm>
          <a:prstGeom prst="roundRect">
            <a:avLst>
              <a:gd name="adj" fmla="val 8163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869950" y="701724"/>
            <a:ext cx="0" cy="1086048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041400" y="854124"/>
            <a:ext cx="14350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 ACTUAL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41400" y="1082723"/>
            <a:ext cx="2788120" cy="6590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Sistema manual basado en Excel generando errores frecuentes en inventario y facturación, con descontrol en el uso de piezas del taller.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2850" y="701724"/>
            <a:ext cx="3149599" cy="1187648"/>
          </a:xfrm>
          <a:prstGeom prst="roundRect">
            <a:avLst>
              <a:gd name="adj" fmla="val 1039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041900" y="701724"/>
            <a:ext cx="0" cy="1086048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191126" y="872579"/>
            <a:ext cx="1924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IMPLEMENTADA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13350" y="1082724"/>
            <a:ext cx="2870199" cy="705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Implantación de Odoo ERP con configuración funcional de cuatro pilares operativos y dos </a:t>
            </a:r>
            <a:r>
              <a:rPr lang="en-US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módulos</a:t>
            </a: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estratégicos</a:t>
            </a:r>
            <a:r>
              <a:rPr lang="en-US" sz="1050" dirty="0">
                <a:latin typeface="Arial" pitchFamily="34" charset="0"/>
                <a:ea typeface="Arial" pitchFamily="34" charset="-122"/>
                <a:cs typeface="Arial" pitchFamily="34" charset="-120"/>
              </a:rPr>
              <a:t> para el sector TIC.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0200" y="2097210"/>
            <a:ext cx="7842249" cy="1101479"/>
          </a:xfrm>
          <a:prstGeom prst="roundRect">
            <a:avLst>
              <a:gd name="adj" fmla="val 9391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3400" y="2351335"/>
            <a:ext cx="1809750" cy="639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PILARES OPERATIVOS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Text 14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InfoTech Solutions • Transformación Digital con Odoo 19</a:t>
            </a:r>
            <a:endParaRPr lang="en-US" sz="750" dirty="0"/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36EFEAB3-B8DD-2141-D27D-A25E3609E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607" y="2203723"/>
            <a:ext cx="909746" cy="786958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E91A6A3D-231C-5FEE-574E-7C1448FFDB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059" y="2203723"/>
            <a:ext cx="1006288" cy="790248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8099B215-EC42-40FE-9BDF-206D59143A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4053" y="2221115"/>
            <a:ext cx="846294" cy="769566"/>
          </a:xfrm>
          <a:prstGeom prst="rect">
            <a:avLst/>
          </a:prstGeom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D544087B-5481-EDB0-4FBA-6DC285893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6171" y="2203725"/>
            <a:ext cx="846294" cy="769566"/>
          </a:xfrm>
          <a:prstGeom prst="rect">
            <a:avLst/>
          </a:prstGeom>
        </p:spPr>
      </p:pic>
      <p:sp>
        <p:nvSpPr>
          <p:cNvPr id="44" name="Text 10">
            <a:extLst>
              <a:ext uri="{FF2B5EF4-FFF2-40B4-BE49-F238E27FC236}">
                <a16:creationId xmlns:a16="http://schemas.microsoft.com/office/drawing/2014/main" id="{15A4DD97-F185-2663-DC1F-4E7F10650792}"/>
              </a:ext>
            </a:extLst>
          </p:cNvPr>
          <p:cNvSpPr/>
          <p:nvPr/>
        </p:nvSpPr>
        <p:spPr>
          <a:xfrm>
            <a:off x="330200" y="3322594"/>
            <a:ext cx="7842249" cy="1101479"/>
          </a:xfrm>
          <a:prstGeom prst="roundRect">
            <a:avLst>
              <a:gd name="adj" fmla="val 9391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976C8DD2-19EA-57F4-2833-4F16EC5B9039}"/>
              </a:ext>
            </a:extLst>
          </p:cNvPr>
          <p:cNvSpPr/>
          <p:nvPr/>
        </p:nvSpPr>
        <p:spPr>
          <a:xfrm>
            <a:off x="533400" y="3576719"/>
            <a:ext cx="2051050" cy="639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MÓDULOS </a:t>
            </a:r>
          </a:p>
          <a:p>
            <a:pPr marL="0" indent="0" algn="l">
              <a:spcAft>
                <a:spcPts val="600"/>
              </a:spcAft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-120"/>
              </a:rPr>
              <a:t>ESTRATÉGICOS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7" name="Imagen 46">
            <a:extLst>
              <a:ext uri="{FF2B5EF4-FFF2-40B4-BE49-F238E27FC236}">
                <a16:creationId xmlns:a16="http://schemas.microsoft.com/office/drawing/2014/main" id="{A05EBA1C-6BE9-B30F-091A-6E36665562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1468" y="3472233"/>
            <a:ext cx="994982" cy="768850"/>
          </a:xfrm>
          <a:prstGeom prst="rect">
            <a:avLst/>
          </a:prstGeom>
        </p:spPr>
      </p:pic>
      <p:pic>
        <p:nvPicPr>
          <p:cNvPr id="49" name="Imagen 48">
            <a:extLst>
              <a:ext uri="{FF2B5EF4-FFF2-40B4-BE49-F238E27FC236}">
                <a16:creationId xmlns:a16="http://schemas.microsoft.com/office/drawing/2014/main" id="{C2CCCD9F-CF54-9179-203A-B09BA6BB63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6766" y="3472233"/>
            <a:ext cx="1590883" cy="749843"/>
          </a:xfrm>
          <a:prstGeom prst="rect">
            <a:avLst/>
          </a:prstGeom>
        </p:spPr>
      </p:pic>
      <p:sp>
        <p:nvSpPr>
          <p:cNvPr id="53" name="Signo más 52">
            <a:extLst>
              <a:ext uri="{FF2B5EF4-FFF2-40B4-BE49-F238E27FC236}">
                <a16:creationId xmlns:a16="http://schemas.microsoft.com/office/drawing/2014/main" id="{98654A4E-21E9-F2FB-4F16-57E62349D4EC}"/>
              </a:ext>
            </a:extLst>
          </p:cNvPr>
          <p:cNvSpPr/>
          <p:nvPr/>
        </p:nvSpPr>
        <p:spPr>
          <a:xfrm>
            <a:off x="5653468" y="3647870"/>
            <a:ext cx="236918" cy="272257"/>
          </a:xfrm>
          <a:prstGeom prst="mathPlus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075" y="228600"/>
            <a:ext cx="0" cy="304800"/>
          </a:xfrm>
          <a:prstGeom prst="line">
            <a:avLst/>
          </a:prstGeom>
          <a:noFill/>
          <a:ln w="571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00050" y="228600"/>
            <a:ext cx="314372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Venta (TPV)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962150"/>
            <a:ext cx="4023271" cy="662880"/>
          </a:xfrm>
          <a:prstGeom prst="roundRect">
            <a:avLst>
              <a:gd name="adj" fmla="val 8621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4350" y="2095500"/>
            <a:ext cx="3831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14350" y="2305050"/>
            <a:ext cx="383170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rápidas en mostrador sin demoras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1000" y="2701230"/>
            <a:ext cx="4023271" cy="662880"/>
          </a:xfrm>
          <a:prstGeom prst="roundRect">
            <a:avLst>
              <a:gd name="adj" fmla="val 8621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14350" y="2834580"/>
            <a:ext cx="3831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RESUELTO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14350" y="3044130"/>
            <a:ext cx="383170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lentas y sin control de stock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2421" y="1760488"/>
            <a:ext cx="4023271" cy="1847552"/>
          </a:xfrm>
          <a:prstGeom prst="roundRect">
            <a:avLst>
              <a:gd name="adj" fmla="val 3093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994821" y="1912888"/>
            <a:ext cx="37928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CLAVE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94821" y="2282428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28171" y="2217688"/>
            <a:ext cx="200367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Interfaz sencilla para vendedores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94821" y="2545259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28171" y="2480518"/>
            <a:ext cx="235145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Actualización automática del inventario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94821" y="2808089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28171" y="2743349"/>
            <a:ext cx="186993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Tickets y facturas en segundos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94821" y="3070919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128171" y="3006179"/>
            <a:ext cx="148935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intuitivo y visual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94821" y="333375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28171" y="3269010"/>
            <a:ext cx="231365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promociones y descuentos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00050" y="47434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InfoTech Solutions • Transformación Digital con Odoo 19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075" y="228600"/>
            <a:ext cx="0" cy="304800"/>
          </a:xfrm>
          <a:prstGeom prst="line">
            <a:avLst/>
          </a:prstGeom>
          <a:noFill/>
          <a:ln w="5715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00050" y="228600"/>
            <a:ext cx="43719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Módulos</a:t>
            </a: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Operativos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318320"/>
            <a:ext cx="8382000" cy="899071"/>
          </a:xfrm>
          <a:prstGeom prst="roundRect">
            <a:avLst>
              <a:gd name="adj" fmla="val 6357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00050" y="1318320"/>
            <a:ext cx="0" cy="899071"/>
          </a:xfrm>
          <a:prstGeom prst="line">
            <a:avLst/>
          </a:prstGeom>
          <a:noFill/>
          <a:ln w="38100">
            <a:solidFill>
              <a:srgbClr val="607D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52450" y="1577280"/>
            <a:ext cx="28291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EMPLEADOS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52450" y="1805880"/>
            <a:ext cx="28291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digital y estructurado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8560" y="1451670"/>
            <a:ext cx="52541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Información actualizada de técnicos y vendedores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8560" y="1687860"/>
            <a:ext cx="52541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 de permisos por rol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8560" y="1924050"/>
            <a:ext cx="52541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Base para nóminas y fichajes futuros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1000" y="2293590"/>
            <a:ext cx="8382000" cy="899071"/>
          </a:xfrm>
          <a:prstGeom prst="roundRect">
            <a:avLst>
              <a:gd name="adj" fmla="val 635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00050" y="2293590"/>
            <a:ext cx="0" cy="899071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552450" y="2552551"/>
            <a:ext cx="28291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COMPRAS Y VENTAS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52450" y="2781151"/>
            <a:ext cx="28291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profesionalizado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8560" y="2426940"/>
            <a:ext cx="52541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Flujo proveedor → compra → recepción → stock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78560" y="2663130"/>
            <a:ext cx="52541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Seguimiento de pedidos de clientes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8560" y="2899321"/>
            <a:ext cx="52541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Integración automática con facturación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1000" y="3268861"/>
            <a:ext cx="8382000" cy="899071"/>
          </a:xfrm>
          <a:prstGeom prst="roundRect">
            <a:avLst>
              <a:gd name="adj" fmla="val 6357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00050" y="3268861"/>
            <a:ext cx="0" cy="899071"/>
          </a:xfrm>
          <a:prstGeom prst="line">
            <a:avLst/>
          </a:prstGeom>
          <a:noFill/>
          <a:ln w="3810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52450" y="3527822"/>
            <a:ext cx="28291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FACTURACIÓN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52450" y="3756422"/>
            <a:ext cx="28291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Emisión legal y automatizada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8560" y="3402211"/>
            <a:ext cx="52541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Facturas 100% legales y personalizables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78560" y="3638401"/>
            <a:ext cx="52541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Registro automático de impuestos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78560" y="3874591"/>
            <a:ext cx="52541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Relación directa con ventas, TPV y compras</a:t>
            </a:r>
            <a:endParaRPr lang="en-US" sz="900" dirty="0"/>
          </a:p>
        </p:txBody>
      </p:sp>
      <p:pic>
        <p:nvPicPr>
          <p:cNvPr id="25" name="Image 0" descr="/tmp/rasterized-gradient-01002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44132"/>
            <a:ext cx="8382000" cy="4953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2628" y="4396532"/>
            <a:ext cx="82387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sólida para gestionar operaciones diarias con control total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81000" y="47434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InfoTech Solutions • Transformación Digital con Odoo 19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075" y="228600"/>
            <a:ext cx="0" cy="304800"/>
          </a:xfrm>
          <a:prstGeom prst="line">
            <a:avLst/>
          </a:prstGeom>
          <a:noFill/>
          <a:ln w="5715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00050" y="228600"/>
            <a:ext cx="442267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• Gestión de Tickets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899345"/>
            <a:ext cx="4023271" cy="2259211"/>
          </a:xfrm>
          <a:prstGeom prst="roundRect">
            <a:avLst>
              <a:gd name="adj" fmla="val 3373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2051745"/>
            <a:ext cx="37928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JUSTIFICACIÓN ESTRATÉGICA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33400" y="2356545"/>
            <a:ext cx="379284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Convierte el desorden del taller en un flujo profesional, estructurado y trazable.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33400" y="2908995"/>
            <a:ext cx="37928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PROBLEMAS RESUELTOS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3400" y="317569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6750" y="3137595"/>
            <a:ext cx="166575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trazabilidad de reparaciones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3400" y="341188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6750" y="3373785"/>
            <a:ext cx="212572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Desconocimiento de técnico responsable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33400" y="364807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66750" y="3609975"/>
            <a:ext cx="197042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seguimiento del estado del equipo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3400" y="388426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6750" y="3846165"/>
            <a:ext cx="152320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garantías confusa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56671" y="1714500"/>
            <a:ext cx="4023271" cy="1600051"/>
          </a:xfrm>
          <a:prstGeom prst="roundRect">
            <a:avLst>
              <a:gd name="adj" fmla="val 476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90021" y="1847850"/>
            <a:ext cx="3831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PRINCIPALES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90021" y="2076450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Registro completo de cada reparación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90021" y="2312640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Historial del dispositivo y servicio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90021" y="2548830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Asignación y control de técnicos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90021" y="2785021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Uso de piezas reflejado en inventario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90021" y="3021211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Mayor transparencia hacia el cliente</a:t>
            </a:r>
            <a:endParaRPr lang="en-US" sz="900" dirty="0"/>
          </a:p>
        </p:txBody>
      </p:sp>
      <p:pic>
        <p:nvPicPr>
          <p:cNvPr id="23" name="Image 0" descr="/tmp/rasterized-gradient-f9057f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671" y="3390751"/>
            <a:ext cx="4023271" cy="9525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671886" y="3543151"/>
            <a:ext cx="37928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EN ROI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671886" y="3733651"/>
            <a:ext cx="37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errores → Menos retrabajo → Más eficiencia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381000" y="47434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InfoTech Solutions • Transformación Digital con Odoo 19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075" y="228600"/>
            <a:ext cx="0" cy="304800"/>
          </a:xfrm>
          <a:prstGeom prst="line">
            <a:avLst/>
          </a:prstGeom>
          <a:noFill/>
          <a:ln w="5715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00050" y="228600"/>
            <a:ext cx="59630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Avanzado + Código de Barras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899345"/>
            <a:ext cx="4023271" cy="2259211"/>
          </a:xfrm>
          <a:prstGeom prst="roundRect">
            <a:avLst>
              <a:gd name="adj" fmla="val 3373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2051745"/>
            <a:ext cx="37928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JUSTIFICACIÓN ESTRATÉGICA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33400" y="2356545"/>
            <a:ext cx="379284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en tiempo real de cada entrada, salida o consumo de material.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33400" y="2908995"/>
            <a:ext cx="37928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PROBLEMAS RESUELTOS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3400" y="317569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6750" y="3137595"/>
            <a:ext cx="13805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Pérdida de piezas en taller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3400" y="341188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6750" y="3373785"/>
            <a:ext cx="110179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desactualizado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33400" y="364807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66750" y="3609975"/>
            <a:ext cx="188814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perdido buscando productos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3400" y="3884265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6750" y="3846165"/>
            <a:ext cx="123128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en la reposición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56671" y="1714500"/>
            <a:ext cx="4023271" cy="1600051"/>
          </a:xfrm>
          <a:prstGeom prst="roundRect">
            <a:avLst>
              <a:gd name="adj" fmla="val 476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90021" y="1847850"/>
            <a:ext cx="3831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PRINCIPALES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90021" y="2076450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Movimientos rápidos y sin errores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90021" y="2312640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Control exacto de componentes delicados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90021" y="2548830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Integración con TPV, compras y reparaciones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90021" y="2785021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Reducción drástica del error humano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90021" y="3021211"/>
            <a:ext cx="38317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Trazabilidad completa de piezas</a:t>
            </a:r>
            <a:endParaRPr lang="en-US" sz="900" dirty="0"/>
          </a:p>
        </p:txBody>
      </p:sp>
      <p:pic>
        <p:nvPicPr>
          <p:cNvPr id="23" name="Image 0" descr="/tmp/rasterized-gradient-4a4583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671" y="3390751"/>
            <a:ext cx="4023271" cy="9525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671886" y="3543151"/>
            <a:ext cx="37928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EN ROI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671886" y="3733651"/>
            <a:ext cx="37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precisión → Menos pérdidas → Stock actualizado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381000" y="47434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InfoTech Solutions • Transformación Digital con Odoo 19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075" y="228600"/>
            <a:ext cx="0" cy="304800"/>
          </a:xfrm>
          <a:prstGeom prst="line">
            <a:avLst/>
          </a:prstGeom>
          <a:noFill/>
          <a:ln w="5715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00050" y="228600"/>
            <a:ext cx="43719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Operativo Integrado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857250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1976D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4400" y="838200"/>
            <a:ext cx="7848600" cy="419100"/>
          </a:xfrm>
          <a:prstGeom prst="roundRect">
            <a:avLst>
              <a:gd name="adj" fmla="val 13636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66800" y="952500"/>
            <a:ext cx="76946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 o recepción</a:t>
            </a: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TPV o Ventas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1975" y="1333500"/>
            <a:ext cx="28575" cy="133350"/>
          </a:xfrm>
          <a:prstGeom prst="rect">
            <a:avLst/>
          </a:prstGeom>
          <a:solidFill>
            <a:srgbClr val="CFD8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81000" y="1562100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14400" y="1543050"/>
            <a:ext cx="7848600" cy="419100"/>
          </a:xfrm>
          <a:prstGeom prst="roundRect">
            <a:avLst>
              <a:gd name="adj" fmla="val 13636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66800" y="1657350"/>
            <a:ext cx="76946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Reparación del equipo</a:t>
            </a: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Helpdesk / Técnico asignado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1975" y="2038350"/>
            <a:ext cx="28575" cy="133350"/>
          </a:xfrm>
          <a:prstGeom prst="rect">
            <a:avLst/>
          </a:prstGeom>
          <a:solidFill>
            <a:srgbClr val="CFD8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81000" y="2266950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7B1FA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14400" y="2247900"/>
            <a:ext cx="7848600" cy="419100"/>
          </a:xfrm>
          <a:prstGeom prst="roundRect">
            <a:avLst>
              <a:gd name="adj" fmla="val 13636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66800" y="2362200"/>
            <a:ext cx="76946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piezas</a:t>
            </a: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Descontadas automáticamente vía Inventario + Código Barras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1975" y="2743200"/>
            <a:ext cx="28575" cy="133350"/>
          </a:xfrm>
          <a:prstGeom prst="rect">
            <a:avLst/>
          </a:prstGeom>
          <a:solidFill>
            <a:srgbClr val="CFD8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81000" y="2971800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400" y="2952750"/>
            <a:ext cx="7848600" cy="419100"/>
          </a:xfrm>
          <a:prstGeom prst="roundRect">
            <a:avLst>
              <a:gd name="adj" fmla="val 13636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6800" y="3067050"/>
            <a:ext cx="76946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del servicio</a:t>
            </a: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Generación automática de factura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1975" y="3448050"/>
            <a:ext cx="28575" cy="133350"/>
          </a:xfrm>
          <a:prstGeom prst="rect">
            <a:avLst/>
          </a:prstGeom>
          <a:solidFill>
            <a:srgbClr val="CFD8D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81000" y="3676650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FF6B3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14400" y="3657600"/>
            <a:ext cx="7848600" cy="419100"/>
          </a:xfrm>
          <a:prstGeom prst="roundRect">
            <a:avLst>
              <a:gd name="adj" fmla="val 13636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66800" y="3771900"/>
            <a:ext cx="76946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Reposición de stock</a:t>
            </a: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Módulo de Compras</a:t>
            </a:r>
            <a:endParaRPr lang="en-US" sz="1050" dirty="0"/>
          </a:p>
        </p:txBody>
      </p:sp>
      <p:pic>
        <p:nvPicPr>
          <p:cNvPr id="23" name="Image 0" descr="/tmp/rasterized-gradient-d30cde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381500"/>
            <a:ext cx="8382000" cy="45720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33197" y="4514850"/>
            <a:ext cx="82776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integrado que elimina duplicidades y garantiza trazabilidad total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81000" y="47434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InfoTech Solutions • Transformación Digital con Odoo 19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075" y="228600"/>
            <a:ext cx="0" cy="304800"/>
          </a:xfrm>
          <a:prstGeom prst="line">
            <a:avLst/>
          </a:prstGeom>
          <a:noFill/>
          <a:ln w="571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00050" y="228600"/>
            <a:ext cx="4457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Operativo - Evidencia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838200"/>
            <a:ext cx="8382000" cy="666750"/>
          </a:xfrm>
          <a:prstGeom prst="roundRect">
            <a:avLst>
              <a:gd name="adj" fmla="val 11429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4350" y="971550"/>
            <a:ext cx="82776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generado automáticamente por Odoo ERP:</a:t>
            </a: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Factura de servicio de reparación con datos coherentes, impuestos calculados automáticamente y logo de InfoTech Solutions.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81000" y="1809750"/>
            <a:ext cx="8382000" cy="3028950"/>
          </a:xfrm>
          <a:prstGeom prst="roundRect">
            <a:avLst>
              <a:gd name="adj" fmla="val 2516"/>
            </a:avLst>
          </a:prstGeom>
          <a:solidFill>
            <a:srgbClr val="F5F7FA"/>
          </a:solidFill>
          <a:ln w="19050">
            <a:solidFill>
              <a:srgbClr val="CFD8DC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" name="Image 0" descr="/tmp/rasterized-gradient-add4f9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0851" y="2619375"/>
            <a:ext cx="762000" cy="762000"/>
          </a:xfrm>
          <a:prstGeom prst="rect">
            <a:avLst/>
          </a:prstGeom>
        </p:spPr>
      </p:pic>
      <p:pic>
        <p:nvPicPr>
          <p:cNvPr id="8" name="Image 1" descr="/tmp/rasterized-svg-b8ae2c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351" y="2809875"/>
            <a:ext cx="381000" cy="381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798467" y="3495675"/>
            <a:ext cx="35469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Inserta aquí la captura del documento PDF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798467" y="3838575"/>
            <a:ext cx="35469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Factura / Presupuesto / Pedido generado en Odoo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14350" y="4362450"/>
            <a:ext cx="8115300" cy="34290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533400" y="4362450"/>
            <a:ext cx="0" cy="34290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9"/>
          <p:cNvSpPr/>
          <p:nvPr/>
        </p:nvSpPr>
        <p:spPr>
          <a:xfrm>
            <a:off x="647700" y="4457700"/>
            <a:ext cx="80444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INSTRUCCIÓN: Reemplaza esta área con una captura de pantalla del documento PDF generado por Odoo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381000" y="47815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InfoTech Solutions • Transformación Digital con Odoo 19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9075" y="228600"/>
            <a:ext cx="0" cy="304800"/>
          </a:xfrm>
          <a:prstGeom prst="line">
            <a:avLst/>
          </a:prstGeom>
          <a:noFill/>
          <a:ln w="5715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00050" y="228600"/>
            <a:ext cx="43719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75568"/>
            <a:ext cx="8382000" cy="1828502"/>
          </a:xfrm>
          <a:prstGeom prst="roundRect">
            <a:avLst>
              <a:gd name="adj" fmla="val 4167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00050" y="975568"/>
            <a:ext cx="0" cy="1828502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71500" y="1127968"/>
            <a:ext cx="81998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IMPLANTACIÓN PROPORCIONA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71500" y="1451818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04850" y="1413718"/>
            <a:ext cx="514860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sólida para gestión integral (ventas, compras, empleados, facturación)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71500" y="1714649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04850" y="1676549"/>
            <a:ext cx="270166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total del ciclo completo del taller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71500" y="1977479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04850" y="1939379"/>
            <a:ext cx="334182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avanzado del inventario con cero improvisación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71500" y="224031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4850" y="2202210"/>
            <a:ext cx="419603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profesional que evita errores y mejora experiencia del cliente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1500" y="2503140"/>
            <a:ext cx="57150" cy="57150"/>
          </a:xfrm>
          <a:prstGeom prst="roundRect">
            <a:avLst>
              <a:gd name="adj" fmla="val 160000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4850" y="2465040"/>
            <a:ext cx="405212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escalable para </a:t>
            </a:r>
            <a:r>
              <a:rPr lang="en-US" sz="1050" dirty="0" err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</a:t>
            </a:r>
            <a:r>
              <a:rPr lang="en-US" sz="105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futuros (CRM, marketing, portal web)</a:t>
            </a:r>
            <a:endParaRPr lang="en-US" sz="1050" dirty="0"/>
          </a:p>
        </p:txBody>
      </p:sp>
      <p:pic>
        <p:nvPicPr>
          <p:cNvPr id="17" name="Image 0" descr="/tmp/rasterized-gradient-d2c541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880271"/>
            <a:ext cx="8382000" cy="13716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91490" y="3070771"/>
            <a:ext cx="8161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gestión manual propensa a errores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91490" y="3413671"/>
            <a:ext cx="81610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491490" y="3794671"/>
            <a:ext cx="8161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entorno digital, integrado y eficiente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81000" y="4328071"/>
            <a:ext cx="8382000" cy="754261"/>
          </a:xfrm>
          <a:prstGeom prst="roundRect">
            <a:avLst>
              <a:gd name="adj" fmla="val 10103"/>
            </a:avLst>
          </a:prstGeom>
          <a:solidFill>
            <a:srgbClr val="F5F7FA"/>
          </a:solidFill>
          <a:ln w="9525">
            <a:solidFill>
              <a:srgbClr val="CFD8DC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23875" y="4470946"/>
            <a:ext cx="82581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 RECOMENDADOS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81000" y="47434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7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InfoTech Solutions • Transformación Digital con Odoo 19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0bf790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546472" y="1428750"/>
            <a:ext cx="4050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Aft>
                <a:spcPts val="1800"/>
              </a:spcAft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2546472" y="2114550"/>
            <a:ext cx="405090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Aft>
                <a:spcPts val="3000"/>
              </a:spcAft>
              <a:buNone/>
            </a:pPr>
            <a:r>
              <a:rPr lang="en-US" sz="18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Implantación ERP Odoo Completada</a:t>
            </a:r>
            <a:endParaRPr lang="en-US" sz="1800" dirty="0"/>
          </a:p>
        </p:txBody>
      </p:sp>
      <p:pic>
        <p:nvPicPr>
          <p:cNvPr id="5" name="Image 1" descr="/tmp/rasterized-gradient-0b1e25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0851" y="2800350"/>
            <a:ext cx="762000" cy="381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546472" y="3143250"/>
            <a:ext cx="40509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InfoTech Solutions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2546472" y="3486150"/>
            <a:ext cx="4050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Consultor: Anibal Solano F.</a:t>
            </a:r>
            <a:endParaRPr lang="en-US" sz="1200" dirty="0"/>
          </a:p>
        </p:txBody>
      </p:sp>
      <p:pic>
        <p:nvPicPr>
          <p:cNvPr id="8" name="Image 2" descr="/tmp/rasterized-gradient-897df7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9700" y="0"/>
            <a:ext cx="114300" cy="5143500"/>
          </a:xfrm>
          <a:prstGeom prst="rect">
            <a:avLst/>
          </a:prstGeom>
        </p:spPr>
      </p:pic>
      <p:pic>
        <p:nvPicPr>
          <p:cNvPr id="9" name="Image 3" descr="/tmp/rasterized-gradient-386b12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381500"/>
            <a:ext cx="9144000" cy="76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e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Base</Template>
  <TotalTime>27</TotalTime>
  <Words>644</Words>
  <Application>Microsoft Office PowerPoint</Application>
  <PresentationFormat>Presentación en pantalla (16:9)</PresentationFormat>
  <Paragraphs>120</Paragraphs>
  <Slides>10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Corbel</vt:lpstr>
      <vt:lpstr>Base</vt:lpstr>
      <vt:lpstr>Tema de Office</vt:lpstr>
      <vt:lpstr>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ERP Odoo - Transformación Digital</dc:title>
  <dc:subject>Proyecto de Modernización Digital - InfoTech Solutions</dc:subject>
  <dc:creator>Anibal Solano F.</dc:creator>
  <cp:lastModifiedBy>anbL Solano</cp:lastModifiedBy>
  <cp:revision>2</cp:revision>
  <dcterms:created xsi:type="dcterms:W3CDTF">2025-11-27T18:38:00Z</dcterms:created>
  <dcterms:modified xsi:type="dcterms:W3CDTF">2025-11-28T00:45:18Z</dcterms:modified>
</cp:coreProperties>
</file>