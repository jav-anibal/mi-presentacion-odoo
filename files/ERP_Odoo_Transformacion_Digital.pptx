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8" r:id="rId4"/>
    <p:sldId id="267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090A2F20-574D-4298-956A-95FE2D3D4342}">
          <p14:sldIdLst>
            <p14:sldId id="256"/>
          </p14:sldIdLst>
        </p14:section>
        <p14:section name="Sección de resumen" id="{A5307ECE-2F48-4EC3-AFD7-06A0A585DA1B}">
          <p14:sldIdLst>
            <p14:sldId id="268"/>
          </p14:sldIdLst>
        </p14:section>
        <p14:section name="Sección 1" id="{09B8A6FF-ACFE-417C-9964-2C2D57409AAE}">
          <p14:sldIdLst>
            <p14:sldId id="258"/>
          </p14:sldIdLst>
        </p14:section>
        <p14:section name="Sección 2" id="{54188492-C0F4-45DE-9B12-39D3B33CC05D}">
          <p14:sldIdLst>
            <p14:sldId id="267"/>
          </p14:sldIdLst>
        </p14:section>
        <p14:section name="Sección 3" id="{A178DAB1-953B-4D64-81A6-2D95F92F4304}">
          <p14:sldIdLst>
            <p14:sldId id="259"/>
          </p14:sldIdLst>
        </p14:section>
        <p14:section name="Sección 4" id="{FC619FA9-E2CF-4E0F-9B3A-77D54587CE4D}">
          <p14:sldIdLst>
            <p14:sldId id="260"/>
          </p14:sldIdLst>
        </p14:section>
        <p14:section name="Sección 5" id="{364AF878-78CF-46EC-8384-2FC86AC12C63}">
          <p14:sldIdLst>
            <p14:sldId id="261"/>
          </p14:sldIdLst>
        </p14:section>
        <p14:section name="Sección 6" id="{6990FAF2-E95B-4623-A23B-A23DDD643761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FF"/>
    <a:srgbClr val="9E9CB3"/>
    <a:srgbClr val="AFAEC4"/>
    <a:srgbClr val="B9B6D3"/>
    <a:srgbClr val="C7C4F2"/>
    <a:srgbClr val="D7D3FF"/>
    <a:srgbClr val="918E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19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slide" Target="slide8.xml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slide" Target="slide7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slide" Target="slide6.xml"/><Relationship Id="rId5" Type="http://schemas.openxmlformats.org/officeDocument/2006/relationships/image" Target="../media/image6.png"/><Relationship Id="rId10" Type="http://schemas.openxmlformats.org/officeDocument/2006/relationships/slide" Target="slide5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914400"/>
            <a:ext cx="3021981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46328C"/>
                </a:solidFill>
              </a:defRPr>
            </a:pPr>
            <a:r>
              <a:t>ERP </a:t>
            </a:r>
            <a:r>
              <a:rPr>
                <a:solidFill>
                  <a:srgbClr val="9966FF"/>
                </a:solidFill>
              </a:rPr>
              <a:t>Odoo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0">
                <a:solidFill>
                  <a:srgbClr val="7864FF"/>
                </a:solidFill>
              </a:defRPr>
            </a:pPr>
            <a:r>
              <a:t>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706" y="3109369"/>
            <a:ext cx="458096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000000"/>
                </a:solidFill>
              </a:defRPr>
            </a:pPr>
            <a:r>
              <a:rPr sz="3200"/>
              <a:t>Proyecto</a:t>
            </a:r>
            <a:r>
              <a:rPr lang="es-ES" sz="3200"/>
              <a:t>:</a:t>
            </a:r>
          </a:p>
          <a:p>
            <a:pPr>
              <a:defRPr sz="2600" b="0">
                <a:solidFill>
                  <a:srgbClr val="000000"/>
                </a:solidFill>
              </a:defRPr>
            </a:pPr>
            <a:r>
              <a:rPr sz="3200"/>
              <a:t>Modernización Digital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F289B87-E953-B25E-D771-881A6AA19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601" y="444911"/>
            <a:ext cx="1676399" cy="558799"/>
          </a:xfrm>
          <a:prstGeom prst="rect">
            <a:avLst/>
          </a:prstGeom>
        </p:spPr>
      </p:pic>
      <p:sp>
        <p:nvSpPr>
          <p:cNvPr id="13" name="Rectangle 1">
            <a:extLst>
              <a:ext uri="{FF2B5EF4-FFF2-40B4-BE49-F238E27FC236}">
                <a16:creationId xmlns:a16="http://schemas.microsoft.com/office/drawing/2014/main" id="{8B8D769E-B63F-AD87-9925-AAB86A0E4CB3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CB6B2313-D029-23A7-9002-00EB254CCAAE}"/>
              </a:ext>
            </a:extLst>
          </p:cNvPr>
          <p:cNvSpPr txBox="1"/>
          <p:nvPr/>
        </p:nvSpPr>
        <p:spPr>
          <a:xfrm>
            <a:off x="457200" y="5543490"/>
            <a:ext cx="54146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000000"/>
                </a:solidFill>
              </a:defRPr>
            </a:pPr>
            <a:r>
              <a:rPr lang="es-ES" sz="2000">
                <a:solidFill>
                  <a:schemeClr val="tx1">
                    <a:lumMod val="50000"/>
                    <a:lumOff val="50000"/>
                  </a:schemeClr>
                </a:solidFill>
              </a:rPr>
              <a:t>Consultor Técnico: Anibal Solano F.</a:t>
            </a:r>
            <a:endParaRPr sz="2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B7EDDF5-6CA1-322C-A206-6AA7BF6D3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20235" y="1580460"/>
            <a:ext cx="3210485" cy="3210485"/>
          </a:xfrm>
          <a:prstGeom prst="rect">
            <a:avLst/>
          </a:prstGeom>
          <a:solidFill>
            <a:srgbClr val="B9B6D3"/>
          </a:solidFill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94A6F-13F1-1D83-BA7C-E50CD1484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sz="8000" b="1">
                <a:solidFill>
                  <a:srgbClr val="9966FF"/>
                </a:solidFill>
              </a:rPr>
              <a:t>O</a:t>
            </a:r>
            <a:r>
              <a:rPr lang="es-ES" sz="8000" b="1">
                <a:solidFill>
                  <a:schemeClr val="bg1">
                    <a:lumMod val="50000"/>
                  </a:schemeClr>
                </a:solidFill>
              </a:rPr>
              <a:t>doo</a:t>
            </a:r>
            <a:endParaRPr lang="es-ES" b="1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Vista general de resumen 4">
                <a:extLst>
                  <a:ext uri="{FF2B5EF4-FFF2-40B4-BE49-F238E27FC236}">
                    <a16:creationId xmlns:a16="http://schemas.microsoft.com/office/drawing/2014/main" id="{3C35CFB9-E826-0CB6-E54B-9E8D0C800FF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605224"/>
                  </p:ext>
                </p:extLst>
              </p:nvPr>
            </p:nvGraphicFramePr>
            <p:xfrm>
              <a:off x="457200" y="1417638"/>
              <a:ext cx="8229600" cy="4525963"/>
            </p:xfrm>
            <a:graphic>
              <a:graphicData uri="http://schemas.microsoft.com/office/powerpoint/2016/summaryzoom">
                <psuz:summaryZm>
                  <psuz:summaryZmObj sectionId="{09B8A6FF-ACFE-417C-9964-2C2D57409AAE}">
                    <psuz:zmPr id="{6ABC080B-DB1D-4384-ADF6-3AF631681041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88036" y="349600"/>
                          <a:ext cx="2468880" cy="18516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4188492-C0F4-45DE-9B12-39D3B33CC05D}">
                    <psuz:zmPr id="{C3C33923-E651-4B90-B46D-C370117BDAE9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880360" y="349600"/>
                          <a:ext cx="2468880" cy="18516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178DAB1-953B-4D64-81A6-2D95F92F4304}">
                    <psuz:zmPr id="{A0218DDD-D9AF-494A-8BE0-E6EB9515566C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472684" y="349600"/>
                          <a:ext cx="2468880" cy="18516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C619FA9-E2CF-4E0F-9B3A-77D54587CE4D}">
                    <psuz:zmPr id="{DA79CD1A-067F-4923-BBAE-50EE63BCFD41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88036" y="2324704"/>
                          <a:ext cx="2468880" cy="18516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64AF878-78CF-46EC-8384-2FC86AC12C63}">
                    <psuz:zmPr id="{69DB2468-0408-40D2-847A-4FCB9356679C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880360" y="2324704"/>
                          <a:ext cx="2468880" cy="18516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990FAF2-E95B-4623-A23B-A23DDD643761}">
                    <psuz:zmPr id="{887A1267-F026-447F-B4E1-519FF73D4D0E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472684" y="2324704"/>
                          <a:ext cx="2468880" cy="18516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Vista general de resumen 4">
                <a:extLst>
                  <a:ext uri="{FF2B5EF4-FFF2-40B4-BE49-F238E27FC236}">
                    <a16:creationId xmlns:a16="http://schemas.microsoft.com/office/drawing/2014/main" id="{3C35CFB9-E826-0CB6-E54B-9E8D0C800FF5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457200" y="1417638"/>
                <a:ext cx="8229600" cy="4525963"/>
                <a:chOff x="457200" y="1417638"/>
                <a:chExt cx="8229600" cy="4525963"/>
              </a:xfrm>
            </p:grpSpPr>
            <p:pic>
              <p:nvPicPr>
                <p:cNvPr id="3" name="Imagen 3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745236" y="1767238"/>
                  <a:ext cx="2468880" cy="185166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Imagen 4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37560" y="1767238"/>
                  <a:ext cx="2468880" cy="185166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n 6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29884" y="1767238"/>
                  <a:ext cx="2468880" cy="185166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n 7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5236" y="3742342"/>
                  <a:ext cx="2468880" cy="185166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n 8">
                  <a:hlinkClick r:id="rId1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337560" y="3742342"/>
                  <a:ext cx="2468880" cy="185166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n 9">
                  <a:hlinkClick r:id="rId1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929884" y="3742342"/>
                  <a:ext cx="2468880" cy="185166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858218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">
            <a:extLst>
              <a:ext uri="{FF2B5EF4-FFF2-40B4-BE49-F238E27FC236}">
                <a16:creationId xmlns:a16="http://schemas.microsoft.com/office/drawing/2014/main" id="{09F8C41E-3BFC-8F26-B969-B29E7916F7D4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2"/>
          <p:cNvSpPr txBox="1"/>
          <p:nvPr/>
        </p:nvSpPr>
        <p:spPr>
          <a:xfrm>
            <a:off x="430304" y="57409"/>
            <a:ext cx="31824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46328C"/>
                </a:solidFill>
              </a:defRPr>
            </a:pPr>
            <a:r>
              <a:rPr sz="5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s-ES" sz="5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ONTEXTO</a:t>
            </a:r>
            <a:r>
              <a:rPr lang="es-ES" sz="5200">
                <a:solidFill>
                  <a:schemeClr val="bg1"/>
                </a:solidFill>
              </a:rPr>
              <a:t> </a:t>
            </a:r>
            <a:endParaRPr sz="5200">
              <a:solidFill>
                <a:schemeClr val="bg1"/>
              </a:solidFill>
            </a:endParaRPr>
          </a:p>
        </p:txBody>
      </p:sp>
      <p:sp>
        <p:nvSpPr>
          <p:cNvPr id="6" name="TextBox 3"/>
          <p:cNvSpPr txBox="1"/>
          <p:nvPr/>
        </p:nvSpPr>
        <p:spPr>
          <a:xfrm>
            <a:off x="224119" y="1647713"/>
            <a:ext cx="5629834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46328C"/>
                </a:solidFill>
              </a:defRPr>
            </a:pPr>
            <a:r>
              <a:rPr lang="es-ES" sz="2000"/>
              <a:t>	</a:t>
            </a:r>
            <a:r>
              <a:rPr lang="es-ES" sz="32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SITUACIÓN ACTUAL</a:t>
            </a:r>
          </a:p>
          <a:p>
            <a:pPr marL="800100" lvl="1" indent="-342900">
              <a:buFont typeface="Wingdings" panose="05000000000000000000" pitchFamily="2" charset="2"/>
              <a:buChar char="q"/>
              <a:defRPr sz="2600" b="0">
                <a:solidFill>
                  <a:srgbClr val="46328C"/>
                </a:solidFill>
              </a:defRPr>
            </a:pP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Sistema manual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basado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en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Excel </a:t>
            </a:r>
            <a:endParaRPr lang="es-ES" sz="20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800100" lvl="1" indent="-342900">
              <a:buFont typeface="Wingdings" panose="05000000000000000000" pitchFamily="2" charset="2"/>
              <a:buChar char="q"/>
              <a:defRPr sz="2600" b="0">
                <a:solidFill>
                  <a:srgbClr val="46328C"/>
                </a:solidFill>
              </a:defRPr>
            </a:pPr>
            <a: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  <a:t>E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rrores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en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inventario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y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facturación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es-ES" sz="20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>
              <a:defRPr sz="2600" b="0">
                <a:solidFill>
                  <a:srgbClr val="46328C"/>
                </a:solidFill>
              </a:defRPr>
            </a:pPr>
            <a:endParaRPr lang="es-ES" sz="20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>
              <a:defRPr sz="2600" b="0">
                <a:solidFill>
                  <a:srgbClr val="46328C"/>
                </a:solidFill>
              </a:defRPr>
            </a:pPr>
            <a:endParaRPr lang="es-ES" sz="2800" b="1"/>
          </a:p>
          <a:p>
            <a:pPr lvl="1">
              <a:defRPr sz="2600" b="0">
                <a:solidFill>
                  <a:srgbClr val="46328C"/>
                </a:solidFill>
              </a:defRPr>
            </a:pPr>
            <a:r>
              <a:rPr lang="es-ES" sz="32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SOLUCIÓN IMPLEMENTADA</a:t>
            </a:r>
            <a:endParaRPr lang="es-ES" sz="24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800100" lvl="1" indent="-342900">
              <a:buFont typeface="Wingdings" panose="05000000000000000000" pitchFamily="2" charset="2"/>
              <a:buChar char="q"/>
              <a:defRPr sz="2600" b="0">
                <a:solidFill>
                  <a:srgbClr val="46328C"/>
                </a:solidFill>
              </a:defRPr>
            </a:pPr>
            <a: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  <a:t>Implantación de Odoo ERP</a:t>
            </a:r>
          </a:p>
          <a:p>
            <a:pPr marL="800100" lvl="1" indent="-342900">
              <a:buFont typeface="Wingdings" panose="05000000000000000000" pitchFamily="2" charset="2"/>
              <a:buChar char="q"/>
              <a:defRPr sz="2600" b="0">
                <a:solidFill>
                  <a:srgbClr val="46328C"/>
                </a:solidFill>
              </a:defRPr>
            </a:pPr>
            <a: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  <a:t>Dos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módulos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2000" err="1">
                <a:solidFill>
                  <a:schemeClr val="tx1">
                    <a:lumMod val="95000"/>
                    <a:lumOff val="5000"/>
                  </a:schemeClr>
                </a:solidFill>
              </a:rPr>
              <a:t>estratégicos</a:t>
            </a: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br>
              <a:rPr sz="2000"/>
            </a:br>
            <a:br>
              <a:rPr sz="2000"/>
            </a:br>
            <a:endParaRPr sz="200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09E0963-214F-207B-BCBA-39B799CF9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04965" y="1282647"/>
            <a:ext cx="2608730" cy="174139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A978911-2673-5A4B-0843-111479063D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3538" y="2465294"/>
            <a:ext cx="655050" cy="65505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08B7449-C0BC-BFB0-B5E0-30D883E44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024" y="3160994"/>
            <a:ext cx="3334871" cy="2777974"/>
          </a:xfrm>
          <a:prstGeom prst="rect">
            <a:avLst/>
          </a:prstGeom>
        </p:spPr>
      </p:pic>
      <p:sp>
        <p:nvSpPr>
          <p:cNvPr id="16" name="Rectangle 1">
            <a:extLst>
              <a:ext uri="{FF2B5EF4-FFF2-40B4-BE49-F238E27FC236}">
                <a16:creationId xmlns:a16="http://schemas.microsoft.com/office/drawing/2014/main" id="{2664B827-9C7E-50B8-F939-87B9C9F0A09F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A3277-FF01-3031-7B31-178FE3A7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C53282-2CA3-C0CE-68C8-E857FA775185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40F84-5768-1338-07A2-6D79AABBD0A3}"/>
              </a:ext>
            </a:extLst>
          </p:cNvPr>
          <p:cNvSpPr txBox="1"/>
          <p:nvPr/>
        </p:nvSpPr>
        <p:spPr>
          <a:xfrm>
            <a:off x="365760" y="182880"/>
            <a:ext cx="450642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rPr lang="es-ES"/>
              <a:t>Módulos Operativos</a:t>
            </a: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4F67F4-7770-2A2C-AAE9-3FC70447255C}"/>
              </a:ext>
            </a:extLst>
          </p:cNvPr>
          <p:cNvSpPr txBox="1"/>
          <p:nvPr/>
        </p:nvSpPr>
        <p:spPr>
          <a:xfrm>
            <a:off x="755827" y="1305261"/>
            <a:ext cx="3697359" cy="4462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0">
                <a:solidFill>
                  <a:srgbClr val="46328C"/>
                </a:solidFill>
              </a:defRPr>
            </a:pPr>
            <a:r>
              <a:rPr lang="es-ES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PUNTO DE VENTA (TPV)</a:t>
            </a:r>
          </a:p>
          <a:p>
            <a:pPr>
              <a:defRPr sz="2600" b="0">
                <a:solidFill>
                  <a:srgbClr val="46328C"/>
                </a:solidFill>
              </a:defRPr>
            </a:pP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Ventas rápidas sin demoras</a:t>
            </a:r>
            <a:br>
              <a:rPr lang="es-ES"/>
            </a:br>
            <a:r>
              <a:rPr lang="es-ES" sz="2000" b="1"/>
              <a:t>BENEFICIOS</a:t>
            </a:r>
          </a:p>
          <a:p>
            <a:pPr lvl="1">
              <a:defRPr sz="2600" b="0">
                <a:solidFill>
                  <a:srgbClr val="46328C"/>
                </a:solidFill>
              </a:defRPr>
            </a:pP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Interfaz sencilla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Inventario automático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Tickets en segundos</a:t>
            </a:r>
            <a:endParaRPr lang="es-ES" sz="20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>
              <a:defRPr sz="2600" b="0">
                <a:solidFill>
                  <a:srgbClr val="46328C"/>
                </a:solidFill>
              </a:defRPr>
            </a:pPr>
            <a:endParaRPr lang="es-ES" sz="2000" b="1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defRPr sz="2600" b="0">
                <a:solidFill>
                  <a:srgbClr val="46328C"/>
                </a:solidFill>
              </a:defRPr>
            </a:pPr>
            <a:endParaRPr lang="es-ES" sz="28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defRPr sz="2600" b="0">
                <a:solidFill>
                  <a:srgbClr val="46328C"/>
                </a:solidFill>
              </a:defRPr>
            </a:pPr>
            <a:r>
              <a:rPr lang="es-ES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EMPLEADOS</a:t>
            </a:r>
          </a:p>
          <a:p>
            <a:pPr lvl="1">
              <a:defRPr sz="2600" b="0">
                <a:solidFill>
                  <a:srgbClr val="46328C"/>
                </a:solidFill>
              </a:defRPr>
            </a:pPr>
            <a: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Control de permisos por rol</a:t>
            </a:r>
            <a:b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Base nómina</a:t>
            </a:r>
            <a:b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s-ES"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Info. Técnicos - Empleados</a:t>
            </a:r>
          </a:p>
          <a:p>
            <a:pPr lvl="1">
              <a:defRPr sz="2600" b="0">
                <a:solidFill>
                  <a:srgbClr val="46328C"/>
                </a:solidFill>
              </a:defRPr>
            </a:pPr>
            <a:endParaRPr lang="es-ES" sz="2000" b="1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3327AB6-C1A9-87E3-5FDB-DF2A1EE50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213" y="1847240"/>
            <a:ext cx="1735619" cy="150136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26982CC5-62A3-B194-C6AA-4954D710D257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A28F189-D0C6-1804-2AB2-F82F404AF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991" y="3719721"/>
            <a:ext cx="1377841" cy="164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777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t>Módulos Operativos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379" y="1618579"/>
            <a:ext cx="4046621" cy="33855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0">
                <a:solidFill>
                  <a:srgbClr val="46328C"/>
                </a:solidFill>
              </a:defRPr>
            </a:pP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endParaRPr lang="es-ES" sz="20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600" b="0">
                <a:solidFill>
                  <a:srgbClr val="46328C"/>
                </a:solidFill>
              </a:defRPr>
            </a:pPr>
            <a:r>
              <a:rPr lang="es-ES"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COMPRAS Y VENTAS</a:t>
            </a:r>
            <a:br>
              <a:rPr/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Flujo proveedor → compra → stock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Seguimiento de pedidos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Integración con facturación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br>
              <a:rPr/>
            </a:br>
            <a:r>
              <a:rPr lang="es-ES"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FACTURACIÓN</a:t>
            </a:r>
            <a:br>
              <a:rPr/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Facturas legales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Impuestos automáticos</a:t>
            </a:r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892507D-0265-D026-AD36-E7805C1EE87F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5660A24-5889-9632-0B57-3265B227F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207" y="2007998"/>
            <a:ext cx="1392198" cy="142100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CC4FFC6-2F94-51DE-9CBB-AD17DDCAB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207" y="3696690"/>
            <a:ext cx="1392198" cy="1574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F9D6B36-F299-FA6E-818E-6A6DDE4F3097}"/>
              </a:ext>
            </a:extLst>
          </p:cNvPr>
          <p:cNvSpPr/>
          <p:nvPr/>
        </p:nvSpPr>
        <p:spPr>
          <a:xfrm>
            <a:off x="275983" y="1201271"/>
            <a:ext cx="3587805" cy="100584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472424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rPr lang="es-ES"/>
              <a:t>Módulos Estratégicos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3142463" cy="51706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0">
                <a:solidFill>
                  <a:srgbClr val="46328C"/>
                </a:solidFill>
              </a:defRPr>
            </a:pPr>
            <a:r>
              <a:rPr lang="es-ES" sz="2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HELPDESK</a:t>
            </a:r>
            <a:r>
              <a:rPr lang="es-ES"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>
              <a:defRPr sz="2600" b="0">
                <a:solidFill>
                  <a:srgbClr val="46328C"/>
                </a:solidFill>
              </a:defRPr>
            </a:pP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Flujo profesional y trazable.</a:t>
            </a:r>
            <a:br>
              <a:rPr/>
            </a:br>
            <a:br>
              <a:rPr/>
            </a:br>
            <a:r>
              <a:rPr lang="es-ES" sz="2000" b="1"/>
              <a:t>PROBLEMAS RESUELTOS</a:t>
            </a:r>
            <a:br>
              <a:rPr/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Sin trazabilidad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Sin técnico responsable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Sin seguimiento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Garantías confusas</a:t>
            </a:r>
            <a:br>
              <a:rPr/>
            </a:br>
            <a:br>
              <a:rPr/>
            </a:br>
            <a:r>
              <a:rPr lang="es-ES" sz="2000" b="1"/>
              <a:t>BENEFICIOS</a:t>
            </a:r>
            <a:br>
              <a:rPr/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Historial completo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Control técnico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Trazabilidad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Uso de piezas al inventario</a:t>
            </a:r>
            <a:br>
              <a:rPr/>
            </a:br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A0EB15E-7627-F463-03B1-F78C0FA7F726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23F5323-24D0-A2FF-E2B0-5F0A8951E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4210" y="2771954"/>
            <a:ext cx="1886213" cy="1457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CD52576-1065-A7FC-11B1-2253D937593B}"/>
              </a:ext>
            </a:extLst>
          </p:cNvPr>
          <p:cNvSpPr/>
          <p:nvPr/>
        </p:nvSpPr>
        <p:spPr>
          <a:xfrm>
            <a:off x="787673" y="1188720"/>
            <a:ext cx="4773667" cy="100584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3577" y="1371600"/>
            <a:ext cx="4707764" cy="4339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0">
                <a:solidFill>
                  <a:srgbClr val="46328C"/>
                </a:solidFill>
              </a:defRPr>
            </a:pPr>
            <a:r>
              <a:rPr lang="es-ES"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INVENTARIO + CÓDIGO DE BARRAS </a:t>
            </a:r>
          </a:p>
          <a:p>
            <a:pPr>
              <a:defRPr sz="2600" b="0">
                <a:solidFill>
                  <a:srgbClr val="46328C"/>
                </a:solidFill>
              </a:defRPr>
            </a:pP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Control en tiempo real.</a:t>
            </a:r>
            <a:br>
              <a:rPr/>
            </a:br>
            <a:br>
              <a:rPr/>
            </a:br>
            <a:r>
              <a:rPr sz="2000" b="1"/>
              <a:t>PROBLEMAS</a:t>
            </a:r>
            <a:br>
              <a:rPr/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Pérdida de piezas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Stock desactualizado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Búsqueda lenta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br>
              <a:rPr/>
            </a:br>
            <a:r>
              <a:rPr sz="2000" b="1"/>
              <a:t>BENEFICIOS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Control exacto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Integración completa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Menos error humano</a:t>
            </a:r>
            <a:b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2000">
                <a:solidFill>
                  <a:schemeClr val="tx1">
                    <a:lumMod val="95000"/>
                    <a:lumOff val="5000"/>
                  </a:schemeClr>
                </a:solidFill>
              </a:rPr>
              <a:t>• Trazabilidad total</a:t>
            </a:r>
            <a:endParaRPr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3FE6B8AB-2B6B-66D7-4D5A-A25354BF19A8}"/>
              </a:ext>
            </a:extLst>
          </p:cNvPr>
          <p:cNvSpPr txBox="1"/>
          <p:nvPr/>
        </p:nvSpPr>
        <p:spPr>
          <a:xfrm>
            <a:off x="365760" y="182880"/>
            <a:ext cx="472424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rPr lang="es-ES"/>
              <a:t>Módulos Estratégicos</a:t>
            </a:r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41C1D12-684E-D486-F0C8-0DBB40637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050" y="2867253"/>
            <a:ext cx="2991267" cy="1409897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1B5B2867-D129-3903-5F68-42C1365F9569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t>Flujo Operativo Integrado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9855" y="1173986"/>
            <a:ext cx="3467744" cy="4781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defRPr sz="2600" b="0">
                <a:solidFill>
                  <a:srgbClr val="46328C"/>
                </a:solidFill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Venta → TPV o Ventas</a:t>
            </a:r>
            <a:b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Reparación → Helpdesk</a:t>
            </a:r>
            <a:b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s-ES">
                <a:solidFill>
                  <a:schemeClr val="tx1">
                    <a:lumMod val="95000"/>
                    <a:lumOff val="5000"/>
                  </a:schemeClr>
                </a:solidFill>
              </a:rPr>
              <a:t>P</a:t>
            </a: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iezas → Inventario</a:t>
            </a:r>
            <a:b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Factura automática</a:t>
            </a:r>
            <a:b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Reposición → Compras</a:t>
            </a:r>
            <a:br>
              <a:rPr/>
            </a:br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B95DED3-FCC3-6065-873A-C6AA625B8F11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8B3C607-3A25-8812-E168-BB7D36427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7459" y="1385589"/>
            <a:ext cx="2893807" cy="2134912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EB86D9C-E2F1-4614-A542-32B406DD819E}"/>
              </a:ext>
            </a:extLst>
          </p:cNvPr>
          <p:cNvSpPr/>
          <p:nvPr/>
        </p:nvSpPr>
        <p:spPr>
          <a:xfrm>
            <a:off x="209550" y="156210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1976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B5B0908-BB1C-420B-D507-AD11D9ED884C}"/>
              </a:ext>
            </a:extLst>
          </p:cNvPr>
          <p:cNvSpPr/>
          <p:nvPr/>
        </p:nvSpPr>
        <p:spPr>
          <a:xfrm>
            <a:off x="376556" y="1947306"/>
            <a:ext cx="45719" cy="41086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759DA84-F642-CEA4-5240-790B65FB4AF5}"/>
              </a:ext>
            </a:extLst>
          </p:cNvPr>
          <p:cNvSpPr/>
          <p:nvPr/>
        </p:nvSpPr>
        <p:spPr>
          <a:xfrm>
            <a:off x="209550" y="2358166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4E50B31-AABF-7446-3D74-FC14CB7032E4}"/>
              </a:ext>
            </a:extLst>
          </p:cNvPr>
          <p:cNvSpPr/>
          <p:nvPr/>
        </p:nvSpPr>
        <p:spPr>
          <a:xfrm>
            <a:off x="209550" y="3163112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7F894FC3-BBFD-004B-00CB-F5ACDBAD7501}"/>
              </a:ext>
            </a:extLst>
          </p:cNvPr>
          <p:cNvSpPr/>
          <p:nvPr/>
        </p:nvSpPr>
        <p:spPr>
          <a:xfrm>
            <a:off x="219449" y="3885962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A70489BB-BB75-4F88-87E4-E95E1FD56992}"/>
              </a:ext>
            </a:extLst>
          </p:cNvPr>
          <p:cNvSpPr/>
          <p:nvPr/>
        </p:nvSpPr>
        <p:spPr>
          <a:xfrm>
            <a:off x="219449" y="4677822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FF6B3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253C5E6C-E69B-90DA-ED6D-67AC80DF0C28}"/>
              </a:ext>
            </a:extLst>
          </p:cNvPr>
          <p:cNvSpPr/>
          <p:nvPr/>
        </p:nvSpPr>
        <p:spPr>
          <a:xfrm>
            <a:off x="382906" y="2748609"/>
            <a:ext cx="45719" cy="41086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32E81B2-747A-8591-A4B8-B43161444F70}"/>
              </a:ext>
            </a:extLst>
          </p:cNvPr>
          <p:cNvSpPr/>
          <p:nvPr/>
        </p:nvSpPr>
        <p:spPr>
          <a:xfrm>
            <a:off x="395628" y="3539813"/>
            <a:ext cx="53293" cy="346149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E208444-C05B-E225-93A9-38DC1F9DCD65}"/>
              </a:ext>
            </a:extLst>
          </p:cNvPr>
          <p:cNvSpPr/>
          <p:nvPr/>
        </p:nvSpPr>
        <p:spPr>
          <a:xfrm>
            <a:off x="384922" y="4266962"/>
            <a:ext cx="45719" cy="41086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547701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rPr lang="es-ES"/>
              <a:t>FACTURA DE UNA VENTA</a:t>
            </a:r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35C463F-7F52-2145-3968-4696C9606BD4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9430AE5-2D58-8BDC-A94F-721B924E41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8639"/>
          <a:stretch>
            <a:fillRect/>
          </a:stretch>
        </p:blipFill>
        <p:spPr>
          <a:xfrm>
            <a:off x="2707341" y="1073647"/>
            <a:ext cx="3836894" cy="51628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t>Conclusiones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536541B-7425-CCC3-8864-812B878242BA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BE7C596B-9B08-8F06-7690-918337414288}"/>
              </a:ext>
            </a:extLst>
          </p:cNvPr>
          <p:cNvSpPr/>
          <p:nvPr/>
        </p:nvSpPr>
        <p:spPr>
          <a:xfrm>
            <a:off x="556260" y="1515409"/>
            <a:ext cx="7056120" cy="296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2800" b="1" dirty="0">
                <a:solidFill>
                  <a:schemeClr val="accent4"/>
                </a:solidFill>
                <a:ea typeface="Arial" pitchFamily="34" charset="-122"/>
                <a:cs typeface="Arial" panose="020B0604020202020204" pitchFamily="34" charset="0"/>
              </a:rPr>
              <a:t>LA </a:t>
            </a:r>
            <a:r>
              <a:rPr lang="en-US" sz="2800" b="1">
                <a:solidFill>
                  <a:schemeClr val="accent4"/>
                </a:solidFill>
                <a:ea typeface="Arial" pitchFamily="34" charset="-122"/>
                <a:cs typeface="Arial" panose="020B0604020202020204" pitchFamily="34" charset="0"/>
              </a:rPr>
              <a:t>IMPLANTACIÓN PROPORCIONA</a:t>
            </a:r>
            <a:endParaRPr lang="en-US" sz="2800" dirty="0">
              <a:solidFill>
                <a:schemeClr val="accent4"/>
              </a:solidFill>
              <a:cs typeface="Arial" panose="020B0604020202020204" pitchFamily="34" charset="0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968F1935-94C0-8C46-414D-3B41C0C86DAC}"/>
              </a:ext>
            </a:extLst>
          </p:cNvPr>
          <p:cNvSpPr/>
          <p:nvPr/>
        </p:nvSpPr>
        <p:spPr>
          <a:xfrm>
            <a:off x="1017270" y="1992051"/>
            <a:ext cx="5840730" cy="507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Infraestructura sólida para </a:t>
            </a:r>
            <a:r>
              <a:rPr lang="en-US" sz="200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gestión integral </a:t>
            </a:r>
          </a:p>
          <a:p>
            <a:pPr marL="0" indent="0" algn="l">
              <a:buNone/>
            </a:pP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(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ventas, compras, empleados, facturación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)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3FA5D476-C855-D9E8-1240-9CD983A7A712}"/>
              </a:ext>
            </a:extLst>
          </p:cNvPr>
          <p:cNvSpPr/>
          <p:nvPr/>
        </p:nvSpPr>
        <p:spPr>
          <a:xfrm>
            <a:off x="1017270" y="2854598"/>
            <a:ext cx="5619750" cy="37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Trazabilidad total del ciclo completo del taller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86C1D653-F3E3-1DB5-0C0D-FCFF26FE733E}"/>
              </a:ext>
            </a:extLst>
          </p:cNvPr>
          <p:cNvSpPr/>
          <p:nvPr/>
        </p:nvSpPr>
        <p:spPr>
          <a:xfrm>
            <a:off x="1017270" y="3496711"/>
            <a:ext cx="7151370" cy="31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Control avanzado del inventario </a:t>
            </a:r>
            <a:r>
              <a:rPr lang="en-US" sz="200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con cero improvisación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84C0EB5-A158-3BEC-59E8-B88137ED3614}"/>
              </a:ext>
            </a:extLst>
          </p:cNvPr>
          <p:cNvSpPr/>
          <p:nvPr/>
        </p:nvSpPr>
        <p:spPr>
          <a:xfrm>
            <a:off x="1031721" y="4039155"/>
            <a:ext cx="7792239" cy="63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Sistema profesional que evita errores y mejora experiencia del cliente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49" name="Text 15">
            <a:extLst>
              <a:ext uri="{FF2B5EF4-FFF2-40B4-BE49-F238E27FC236}">
                <a16:creationId xmlns:a16="http://schemas.microsoft.com/office/drawing/2014/main" id="{F519D002-45A6-26F3-F4AA-B4D87B9C6696}"/>
              </a:ext>
            </a:extLst>
          </p:cNvPr>
          <p:cNvSpPr/>
          <p:nvPr/>
        </p:nvSpPr>
        <p:spPr>
          <a:xfrm>
            <a:off x="476250" y="4901912"/>
            <a:ext cx="8161020" cy="31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De gestión manual propensa a errores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50" name="Text 16">
            <a:extLst>
              <a:ext uri="{FF2B5EF4-FFF2-40B4-BE49-F238E27FC236}">
                <a16:creationId xmlns:a16="http://schemas.microsoft.com/office/drawing/2014/main" id="{2D3405A8-FAEC-D13F-25C0-35E91B972197}"/>
              </a:ext>
            </a:extLst>
          </p:cNvPr>
          <p:cNvSpPr/>
          <p:nvPr/>
        </p:nvSpPr>
        <p:spPr>
          <a:xfrm>
            <a:off x="476250" y="5237703"/>
            <a:ext cx="8161020" cy="36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↓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51" name="Text 17">
            <a:extLst>
              <a:ext uri="{FF2B5EF4-FFF2-40B4-BE49-F238E27FC236}">
                <a16:creationId xmlns:a16="http://schemas.microsoft.com/office/drawing/2014/main" id="{00A2E7C6-D0DC-7FC7-F087-CC15312A35C9}"/>
              </a:ext>
            </a:extLst>
          </p:cNvPr>
          <p:cNvSpPr/>
          <p:nvPr/>
        </p:nvSpPr>
        <p:spPr>
          <a:xfrm>
            <a:off x="476250" y="5625812"/>
            <a:ext cx="8161020" cy="31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ea typeface="Arial" pitchFamily="34" charset="-122"/>
                <a:cs typeface="Arial" panose="020B0604020202020204" pitchFamily="34" charset="0"/>
              </a:rPr>
              <a:t>A entorno digital, integrado y eficiente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55" name="Text 6">
            <a:extLst>
              <a:ext uri="{FF2B5EF4-FFF2-40B4-BE49-F238E27FC236}">
                <a16:creationId xmlns:a16="http://schemas.microsoft.com/office/drawing/2014/main" id="{B1C7437A-404A-3BB3-9220-9C5C9BDFA542}"/>
              </a:ext>
            </a:extLst>
          </p:cNvPr>
          <p:cNvSpPr/>
          <p:nvPr/>
        </p:nvSpPr>
        <p:spPr>
          <a:xfrm>
            <a:off x="400050" y="2118478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7788A1D5-7336-A811-26D9-E7783927CB02}"/>
              </a:ext>
            </a:extLst>
          </p:cNvPr>
          <p:cNvSpPr/>
          <p:nvPr/>
        </p:nvSpPr>
        <p:spPr>
          <a:xfrm>
            <a:off x="400050" y="2695553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6">
            <a:extLst>
              <a:ext uri="{FF2B5EF4-FFF2-40B4-BE49-F238E27FC236}">
                <a16:creationId xmlns:a16="http://schemas.microsoft.com/office/drawing/2014/main" id="{4C24E22E-EEB3-83C2-81A8-C4D73D44B35F}"/>
              </a:ext>
            </a:extLst>
          </p:cNvPr>
          <p:cNvSpPr/>
          <p:nvPr/>
        </p:nvSpPr>
        <p:spPr>
          <a:xfrm>
            <a:off x="400050" y="3306211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C85205C5-3C74-7188-4B72-52F30BE57DFA}"/>
              </a:ext>
            </a:extLst>
          </p:cNvPr>
          <p:cNvSpPr/>
          <p:nvPr/>
        </p:nvSpPr>
        <p:spPr>
          <a:xfrm>
            <a:off x="400050" y="3966739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D7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20653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46328C"/>
                </a:solidFill>
              </a:defRPr>
            </a:pPr>
            <a:r>
              <a:rPr lang="es-ES"/>
              <a:t>GRACIAS</a:t>
            </a:r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AF0DF3-1B9C-033D-0783-1A8FA5B9A8A0}"/>
              </a:ext>
            </a:extLst>
          </p:cNvPr>
          <p:cNvSpPr/>
          <p:nvPr/>
        </p:nvSpPr>
        <p:spPr>
          <a:xfrm>
            <a:off x="0" y="6259904"/>
            <a:ext cx="9144000" cy="6374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600" i="1">
              <a:solidFill>
                <a:schemeClr val="tx1"/>
              </a:solidFill>
            </a:endParaRPr>
          </a:p>
          <a:p>
            <a:pPr algn="ctr"/>
            <a:r>
              <a:rPr lang="es-ES" sz="2000" i="1">
                <a:solidFill>
                  <a:schemeClr val="tx1">
                    <a:lumMod val="50000"/>
                    <a:lumOff val="50000"/>
                  </a:schemeClr>
                </a:solidFill>
              </a:rPr>
              <a:t>InfoTech Solutions • Transformación Digital con Odoo 19</a:t>
            </a:r>
            <a:endParaRPr lang="es-ES" i="1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endParaRPr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CE5642A-80D0-E7F1-C255-41866988216E}"/>
              </a:ext>
            </a:extLst>
          </p:cNvPr>
          <p:cNvSpPr/>
          <p:nvPr/>
        </p:nvSpPr>
        <p:spPr>
          <a:xfrm>
            <a:off x="2615052" y="2686050"/>
            <a:ext cx="4050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Aft>
                <a:spcPts val="1800"/>
              </a:spcAft>
              <a:buNone/>
            </a:pPr>
            <a:r>
              <a:rPr lang="en-US" sz="6000" b="1" dirty="0">
                <a:solidFill>
                  <a:srgbClr val="2C3E50"/>
                </a:solidFill>
                <a:ea typeface="Arial" pitchFamily="34" charset="-122"/>
                <a:cs typeface="Arial" pitchFamily="34" charset="-120"/>
              </a:rPr>
              <a:t>Gracias</a:t>
            </a:r>
            <a:endParaRPr lang="en-US" sz="60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A5E6BF5-43FF-C7C5-32D4-AA3740EBA6DF}"/>
              </a:ext>
            </a:extLst>
          </p:cNvPr>
          <p:cNvSpPr/>
          <p:nvPr/>
        </p:nvSpPr>
        <p:spPr>
          <a:xfrm>
            <a:off x="2036006" y="3349018"/>
            <a:ext cx="54010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Aft>
                <a:spcPts val="3000"/>
              </a:spcAft>
              <a:buNone/>
            </a:pPr>
            <a:r>
              <a:rPr lang="en-US" sz="2800" b="1" dirty="0">
                <a:solidFill>
                  <a:srgbClr val="16A085"/>
                </a:solidFill>
                <a:ea typeface="Arial" pitchFamily="34" charset="-122"/>
                <a:cs typeface="Arial" pitchFamily="34" charset="-120"/>
              </a:rPr>
              <a:t>Implantación ERP Odoo Completada</a:t>
            </a:r>
            <a:endParaRPr lang="en-US" sz="28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788AF74E-431E-F86F-E0AF-F320E8600160}"/>
              </a:ext>
            </a:extLst>
          </p:cNvPr>
          <p:cNvSpPr/>
          <p:nvPr/>
        </p:nvSpPr>
        <p:spPr>
          <a:xfrm>
            <a:off x="2615052" y="4400550"/>
            <a:ext cx="40509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2800" dirty="0">
                <a:solidFill>
                  <a:srgbClr val="607D8B"/>
                </a:solidFill>
                <a:ea typeface="Arial" pitchFamily="34" charset="-122"/>
                <a:cs typeface="Arial" pitchFamily="34" charset="-120"/>
              </a:rPr>
              <a:t>InfoTech Solutions</a:t>
            </a:r>
            <a:endParaRPr lang="en-US" sz="28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0CD6E76-E520-C92D-ECEF-346FE31F13AB}"/>
              </a:ext>
            </a:extLst>
          </p:cNvPr>
          <p:cNvSpPr/>
          <p:nvPr/>
        </p:nvSpPr>
        <p:spPr>
          <a:xfrm>
            <a:off x="1974972" y="4834945"/>
            <a:ext cx="55231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800">
                <a:solidFill>
                  <a:srgbClr val="607D8B"/>
                </a:solidFill>
                <a:ea typeface="Arial" pitchFamily="34" charset="-122"/>
                <a:cs typeface="Arial" pitchFamily="34" charset="-120"/>
              </a:rPr>
              <a:t>Consultor Técnico: </a:t>
            </a:r>
            <a:r>
              <a:rPr lang="en-US" sz="2800" dirty="0">
                <a:solidFill>
                  <a:srgbClr val="607D8B"/>
                </a:solidFill>
                <a:ea typeface="Arial" pitchFamily="34" charset="-122"/>
                <a:cs typeface="Arial" pitchFamily="34" charset="-120"/>
              </a:rPr>
              <a:t>Anibal Solano F.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403</Words>
  <Application>Microsoft Office PowerPoint</Application>
  <PresentationFormat>Presentación en pantalla (4:3)</PresentationFormat>
  <Paragraphs>70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Presentación de PowerPoint</vt:lpstr>
      <vt:lpstr>Odoo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anbL Solano</cp:lastModifiedBy>
  <cp:revision>13</cp:revision>
  <dcterms:created xsi:type="dcterms:W3CDTF">2013-01-27T09:14:16Z</dcterms:created>
  <dcterms:modified xsi:type="dcterms:W3CDTF">2025-11-28T18:00:50Z</dcterms:modified>
  <cp:category/>
</cp:coreProperties>
</file>